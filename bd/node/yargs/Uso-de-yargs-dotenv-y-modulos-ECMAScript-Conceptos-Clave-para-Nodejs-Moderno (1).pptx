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Kanit Light"/>
      <p:regular r:id="rId12"/>
      <p:bold r:id="rId13"/>
      <p:italic r:id="rId14"/>
      <p:boldItalic r:id="rId15"/>
    </p:embeddedFont>
    <p:embeddedFont>
      <p:font typeface="Martel Sans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uh3+dfm5fO4oDpnYvbpoE0Czj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KanitLight-bold.fntdata"/><Relationship Id="rId12" Type="http://schemas.openxmlformats.org/officeDocument/2006/relationships/font" Target="fonts/KanitL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KanitLight-boldItalic.fntdata"/><Relationship Id="rId14" Type="http://schemas.openxmlformats.org/officeDocument/2006/relationships/font" Target="fonts/KanitLight-italic.fntdata"/><Relationship Id="rId17" Type="http://schemas.openxmlformats.org/officeDocument/2006/relationships/font" Target="fonts/MartelSans-bold.fntdata"/><Relationship Id="rId16" Type="http://schemas.openxmlformats.org/officeDocument/2006/relationships/font" Target="fonts/Martel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/>
          <p:nvPr/>
        </p:nvSpPr>
        <p:spPr>
          <a:xfrm>
            <a:off x="6280190" y="2164199"/>
            <a:ext cx="7556421" cy="2835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Uso de yargs, dotenv y módulos ECMAScript: Conceptos Clave para Node.js Moderno</a:t>
            </a:r>
            <a:endParaRPr b="0" i="0" sz="4450" u="none" cap="none" strike="noStrike"/>
          </a:p>
        </p:txBody>
      </p:sp>
      <p:sp>
        <p:nvSpPr>
          <p:cNvPr id="46" name="Google Shape;46;p1"/>
          <p:cNvSpPr/>
          <p:nvPr/>
        </p:nvSpPr>
        <p:spPr>
          <a:xfrm>
            <a:off x="6280190" y="5339477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Descubre las herramientas esenciales para el desarrollo moderno de aplicaciones Node.js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6280190" y="720090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yargs: Simplificando el manejo de argumentos en Node.js</a:t>
            </a:r>
            <a:endParaRPr b="0" i="0" sz="4450" u="none" cap="none" strike="noStrike"/>
          </a:p>
        </p:txBody>
      </p:sp>
      <p:sp>
        <p:nvSpPr>
          <p:cNvPr id="54" name="Google Shape;54;p2"/>
          <p:cNvSpPr/>
          <p:nvPr/>
        </p:nvSpPr>
        <p:spPr>
          <a:xfrm>
            <a:off x="6280190" y="3186589"/>
            <a:ext cx="3664744" cy="2410897"/>
          </a:xfrm>
          <a:prstGeom prst="roundRect">
            <a:avLst>
              <a:gd fmla="val 3952" name="adj"/>
            </a:avLst>
          </a:prstGeom>
          <a:solidFill>
            <a:srgbClr val="437066"/>
          </a:solidFill>
          <a:ln cap="flat" cmpd="sng" w="9525">
            <a:solidFill>
              <a:srgbClr val="5C8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514624" y="34210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Kanit Light"/>
                <a:ea typeface="Kanit Light"/>
                <a:cs typeface="Kanit Light"/>
                <a:sym typeface="Kanit Light"/>
              </a:rPr>
              <a:t>Interfaz intuitiva</a:t>
            </a:r>
            <a:endParaRPr b="0" i="0" sz="22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6514624" y="3911441"/>
            <a:ext cx="319587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Martel Sans"/>
                <a:ea typeface="Martel Sans"/>
                <a:cs typeface="Martel Sans"/>
                <a:sym typeface="Martel Sans"/>
              </a:rPr>
              <a:t>yargs es una librería popular para procesar argumentos de línea de comandos de forma intuitiva y robusta</a:t>
            </a:r>
            <a:endParaRPr b="0" i="0" sz="175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10171748" y="3186589"/>
            <a:ext cx="3664863" cy="2410897"/>
          </a:xfrm>
          <a:prstGeom prst="roundRect">
            <a:avLst>
              <a:gd fmla="val 3952" name="adj"/>
            </a:avLst>
          </a:prstGeom>
          <a:solidFill>
            <a:srgbClr val="437066"/>
          </a:solidFill>
          <a:ln cap="flat" cmpd="sng" w="9525">
            <a:solidFill>
              <a:srgbClr val="5C8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0406182" y="34210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Kanit Light"/>
                <a:ea typeface="Kanit Light"/>
                <a:cs typeface="Kanit Light"/>
                <a:sym typeface="Kanit Light"/>
              </a:rPr>
              <a:t>CLI avanzadas</a:t>
            </a:r>
            <a:endParaRPr b="0" i="0" sz="220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10406182" y="3911441"/>
            <a:ext cx="319599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Martel Sans"/>
                <a:ea typeface="Martel Sans"/>
                <a:cs typeface="Martel Sans"/>
                <a:sym typeface="Martel Sans"/>
              </a:rPr>
              <a:t>Facilita la creación de interfaces CLI con validación, ayuda automática y comandos anidados</a:t>
            </a:r>
            <a:endParaRPr b="0" i="0" sz="175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6280190" y="5824299"/>
            <a:ext cx="7556421" cy="1685092"/>
          </a:xfrm>
          <a:prstGeom prst="roundRect">
            <a:avLst>
              <a:gd fmla="val 5654" name="adj"/>
            </a:avLst>
          </a:prstGeom>
          <a:solidFill>
            <a:srgbClr val="437066"/>
          </a:solidFill>
          <a:ln cap="flat" cmpd="sng" w="9525">
            <a:solidFill>
              <a:srgbClr val="5C8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514624" y="6058733"/>
            <a:ext cx="343102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Kanit Light"/>
                <a:ea typeface="Kanit Light"/>
                <a:cs typeface="Kanit Light"/>
                <a:sym typeface="Kanit Light"/>
              </a:rPr>
              <a:t>Herramientas profesionales</a:t>
            </a:r>
            <a:endParaRPr b="0" i="0" sz="22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6514624" y="6549152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Martel Sans"/>
                <a:ea typeface="Martel Sans"/>
                <a:cs typeface="Martel Sans"/>
                <a:sym typeface="Martel Sans"/>
              </a:rPr>
              <a:t>Transforma scripts simples en herramientas configurables y amigables para usuarios finales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793790" y="892612"/>
            <a:ext cx="126764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dotenv: Gestión de variables de entorno en Node.js</a:t>
            </a:r>
            <a:endParaRPr b="0" i="0" sz="4450" u="none" cap="none" strike="noStrike"/>
          </a:p>
        </p:txBody>
      </p:sp>
      <p:sp>
        <p:nvSpPr>
          <p:cNvPr id="69" name="Google Shape;69;p3"/>
          <p:cNvSpPr/>
          <p:nvPr/>
        </p:nvSpPr>
        <p:spPr>
          <a:xfrm>
            <a:off x="793790" y="2145625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dotenv carga variables definidas en archivos .env al entorno de ejecución (process.env)</a:t>
            </a:r>
            <a:endParaRPr b="0" i="0" sz="1750" u="none" cap="none" strike="noStrike"/>
          </a:p>
        </p:txBody>
      </p:sp>
      <p:sp>
        <p:nvSpPr>
          <p:cNvPr id="70" name="Google Shape;70;p3"/>
          <p:cNvSpPr/>
          <p:nvPr/>
        </p:nvSpPr>
        <p:spPr>
          <a:xfrm>
            <a:off x="793790" y="2950726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Es fundamental para separar configuración sensible (API keys, credenciales) del código fuente</a:t>
            </a:r>
            <a:endParaRPr b="0" i="0" sz="1750" u="none" cap="none" strike="noStrike"/>
          </a:p>
        </p:txBody>
      </p:sp>
      <p:sp>
        <p:nvSpPr>
          <p:cNvPr id="71" name="Google Shape;71;p3"/>
          <p:cNvSpPr/>
          <p:nvPr/>
        </p:nvSpPr>
        <p:spPr>
          <a:xfrm>
            <a:off x="793790" y="3755827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Popularidad sostenida: más de </a:t>
            </a:r>
            <a:r>
              <a:rPr b="1" i="0" lang="en-US" sz="175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45 millones de descargas semanales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en 2025</a:t>
            </a:r>
            <a:endParaRPr b="0" i="0" sz="1750" u="none" cap="none" strike="noStrike"/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9096" y="2196703"/>
            <a:ext cx="4885015" cy="488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114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771644" y="606266"/>
            <a:ext cx="7600712" cy="137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300"/>
              <a:buFont typeface="Kanit Light"/>
              <a:buNone/>
            </a:pPr>
            <a:r>
              <a:rPr b="0" i="0" lang="en-US" sz="43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Evolución de dotenv con ES Modules (ESM)</a:t>
            </a:r>
            <a:endParaRPr b="0" i="0" sz="4300" u="none" cap="none" strike="noStrike"/>
          </a:p>
        </p:txBody>
      </p:sp>
      <p:pic>
        <p:nvPicPr>
          <p:cNvPr descr="preencoded.png"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644" y="2314932"/>
            <a:ext cx="66139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1653421" y="2535317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Migración necesaria</a:t>
            </a:r>
            <a:endParaRPr b="0" i="0" sz="2150" u="none" cap="none" strike="noStrike"/>
          </a:p>
        </p:txBody>
      </p:sp>
      <p:sp>
        <p:nvSpPr>
          <p:cNvPr id="82" name="Google Shape;82;p4"/>
          <p:cNvSpPr/>
          <p:nvPr/>
        </p:nvSpPr>
        <p:spPr>
          <a:xfrm>
            <a:off x="1653421" y="3012043"/>
            <a:ext cx="6718935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Migrar de CommonJS (require) a ES Modules (import) requiere importar dotenv con import 'dotenv/config'</a:t>
            </a:r>
            <a:endParaRPr b="0" i="0" sz="1700" u="none" cap="none" strike="noStrike"/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281" y="4158377"/>
            <a:ext cx="66139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1984058" y="4378762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Orden crítico</a:t>
            </a:r>
            <a:endParaRPr b="0" i="0" sz="2150" u="none" cap="none" strike="noStrike"/>
          </a:p>
        </p:txBody>
      </p:sp>
      <p:sp>
        <p:nvSpPr>
          <p:cNvPr id="85" name="Google Shape;85;p4"/>
          <p:cNvSpPr/>
          <p:nvPr/>
        </p:nvSpPr>
        <p:spPr>
          <a:xfrm>
            <a:off x="1984058" y="4855488"/>
            <a:ext cx="6388298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Importar dotenv antes que otros módulos es crucial para que las variables estén disponibles desde el inicio</a:t>
            </a:r>
            <a:endParaRPr b="0" i="0" sz="1700" u="none" cap="none" strike="noStrike"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036" y="6001822"/>
            <a:ext cx="66139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2314813" y="6222206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Soporte nativo</a:t>
            </a:r>
            <a:endParaRPr b="0" i="0" sz="2150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2314813" y="6698933"/>
            <a:ext cx="6057543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 Node.js 20+, existe soporte nativo para cargar archivos .env sin necesidad de dotenv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793790" y="67091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Node.js 20+: Soporte nativo para variables de entorno</a:t>
            </a:r>
            <a:endParaRPr b="0" i="0" sz="4450" u="none" cap="none" strike="noStrike"/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428637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1757720" y="261997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Bandera CLI nativa</a:t>
            </a:r>
            <a:endParaRPr b="0" i="0" sz="2200" u="none" cap="none" strike="noStrike"/>
          </a:p>
        </p:txBody>
      </p:sp>
      <p:sp>
        <p:nvSpPr>
          <p:cNvPr id="98" name="Google Shape;98;p5"/>
          <p:cNvSpPr/>
          <p:nvPr/>
        </p:nvSpPr>
        <p:spPr>
          <a:xfrm>
            <a:off x="1757720" y="3110389"/>
            <a:ext cx="65924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Nueva bandera --env-file permite cargar archivos .env directamente al iniciar Node sin dependencias externas</a:t>
            </a:r>
            <a:endParaRPr b="0" i="0" sz="1750" u="none" cap="none" strike="noStrike"/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289822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1757720" y="448115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API programática</a:t>
            </a:r>
            <a:endParaRPr b="0" i="0" sz="2200" u="none" cap="none" strike="noStrike"/>
          </a:p>
        </p:txBody>
      </p:sp>
      <p:sp>
        <p:nvSpPr>
          <p:cNvPr id="101" name="Google Shape;101;p5"/>
          <p:cNvSpPr/>
          <p:nvPr/>
        </p:nvSpPr>
        <p:spPr>
          <a:xfrm>
            <a:off x="1757720" y="4971574"/>
            <a:ext cx="65924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Funciones integradas para cargar y parsear variables de entorno con control total sobre el proceso</a:t>
            </a:r>
            <a:endParaRPr b="0" i="0" sz="1750" u="none" cap="none" strike="noStrike"/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6151007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1757720" y="634234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Modernización</a:t>
            </a:r>
            <a:endParaRPr b="0" i="0" sz="2200" u="none" cap="none" strike="noStrike"/>
          </a:p>
        </p:txBody>
      </p:sp>
      <p:sp>
        <p:nvSpPr>
          <p:cNvPr id="104" name="Google Shape;104;p5"/>
          <p:cNvSpPr/>
          <p:nvPr/>
        </p:nvSpPr>
        <p:spPr>
          <a:xfrm>
            <a:off x="1757720" y="6832759"/>
            <a:ext cx="65924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Recomendado para proyectos modernos que buscan reducir dependencias y mejorar seguridad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768191" y="946428"/>
            <a:ext cx="7607618" cy="1371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300"/>
              <a:buFont typeface="Kanit Light"/>
              <a:buNone/>
            </a:pPr>
            <a:r>
              <a:rPr b="0" i="0" lang="en-US" sz="43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Exportaciones e importaciones en ECMAScript (ESM)</a:t>
            </a:r>
            <a:endParaRPr b="0" i="0" sz="4300" u="none" cap="none" strike="noStrike"/>
          </a:p>
        </p:txBody>
      </p:sp>
      <p:sp>
        <p:nvSpPr>
          <p:cNvPr id="112" name="Google Shape;112;p6"/>
          <p:cNvSpPr/>
          <p:nvPr/>
        </p:nvSpPr>
        <p:spPr>
          <a:xfrm>
            <a:off x="768191" y="2647474"/>
            <a:ext cx="493871" cy="493871"/>
          </a:xfrm>
          <a:prstGeom prst="roundRect">
            <a:avLst>
              <a:gd fmla="val 18668" name="adj"/>
            </a:avLst>
          </a:prstGeom>
          <a:solidFill>
            <a:srgbClr val="437066"/>
          </a:solidFill>
          <a:ln cap="flat" cmpd="sng" w="9525">
            <a:solidFill>
              <a:srgbClr val="5C8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50523" y="2688669"/>
            <a:ext cx="3292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Kanit Ligh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Kanit Light"/>
                <a:ea typeface="Kanit Light"/>
                <a:cs typeface="Kanit Light"/>
                <a:sym typeface="Kanit Light"/>
              </a:rPr>
              <a:t>1</a:t>
            </a:r>
            <a:endParaRPr b="0" i="0" sz="2550" u="none" cap="none" strike="noStrike"/>
          </a:p>
        </p:txBody>
      </p:sp>
      <p:sp>
        <p:nvSpPr>
          <p:cNvPr id="114" name="Google Shape;114;p6"/>
          <p:cNvSpPr/>
          <p:nvPr/>
        </p:nvSpPr>
        <p:spPr>
          <a:xfrm>
            <a:off x="1481495" y="2722840"/>
            <a:ext cx="2743795" cy="34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Estándar moderno</a:t>
            </a:r>
            <a:endParaRPr b="0" i="0" sz="2150" u="none" cap="none" strike="noStrike"/>
          </a:p>
        </p:txBody>
      </p:sp>
      <p:sp>
        <p:nvSpPr>
          <p:cNvPr id="115" name="Google Shape;115;p6"/>
          <p:cNvSpPr/>
          <p:nvPr/>
        </p:nvSpPr>
        <p:spPr>
          <a:xfrm>
            <a:off x="1481495" y="3197542"/>
            <a:ext cx="6894314" cy="702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ESM es el estándar moderno para modularidad en JavaScript, usando sintaxis import y export</a:t>
            </a:r>
            <a:endParaRPr b="0" i="0" sz="1700" u="none" cap="none" strike="noStrike"/>
          </a:p>
        </p:txBody>
      </p:sp>
      <p:sp>
        <p:nvSpPr>
          <p:cNvPr id="116" name="Google Shape;116;p6"/>
          <p:cNvSpPr/>
          <p:nvPr/>
        </p:nvSpPr>
        <p:spPr>
          <a:xfrm>
            <a:off x="768191" y="4338995"/>
            <a:ext cx="493871" cy="493871"/>
          </a:xfrm>
          <a:prstGeom prst="roundRect">
            <a:avLst>
              <a:gd fmla="val 18668" name="adj"/>
            </a:avLst>
          </a:prstGeom>
          <a:solidFill>
            <a:srgbClr val="437066"/>
          </a:solidFill>
          <a:ln cap="flat" cmpd="sng" w="9525">
            <a:solidFill>
              <a:srgbClr val="5C8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50523" y="4380190"/>
            <a:ext cx="3292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Kanit Ligh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Kanit Light"/>
                <a:ea typeface="Kanit Light"/>
                <a:cs typeface="Kanit Light"/>
                <a:sym typeface="Kanit Light"/>
              </a:rPr>
              <a:t>2</a:t>
            </a:r>
            <a:endParaRPr b="0" i="0" sz="2550" u="none" cap="none" strike="noStrike"/>
          </a:p>
        </p:txBody>
      </p:sp>
      <p:sp>
        <p:nvSpPr>
          <p:cNvPr id="118" name="Google Shape;118;p6"/>
          <p:cNvSpPr/>
          <p:nvPr/>
        </p:nvSpPr>
        <p:spPr>
          <a:xfrm>
            <a:off x="1481495" y="4414361"/>
            <a:ext cx="2743795" cy="34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Flexibilidad total</a:t>
            </a:r>
            <a:endParaRPr b="0" i="0" sz="2150" u="none" cap="none" strike="noStrike"/>
          </a:p>
        </p:txBody>
      </p:sp>
      <p:sp>
        <p:nvSpPr>
          <p:cNvPr id="119" name="Google Shape;119;p6"/>
          <p:cNvSpPr/>
          <p:nvPr/>
        </p:nvSpPr>
        <p:spPr>
          <a:xfrm>
            <a:off x="1481495" y="4889063"/>
            <a:ext cx="6894314" cy="702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Permite importar/exportar funciones, objetos o valores entre archivos con sintaxis clara y estática</a:t>
            </a:r>
            <a:endParaRPr b="0" i="0" sz="1700" u="none" cap="none" strike="noStrike"/>
          </a:p>
        </p:txBody>
      </p:sp>
      <p:sp>
        <p:nvSpPr>
          <p:cNvPr id="120" name="Google Shape;120;p6"/>
          <p:cNvSpPr/>
          <p:nvPr/>
        </p:nvSpPr>
        <p:spPr>
          <a:xfrm>
            <a:off x="768191" y="6030516"/>
            <a:ext cx="493871" cy="493871"/>
          </a:xfrm>
          <a:prstGeom prst="roundRect">
            <a:avLst>
              <a:gd fmla="val 18668" name="adj"/>
            </a:avLst>
          </a:prstGeom>
          <a:solidFill>
            <a:srgbClr val="437066"/>
          </a:solidFill>
          <a:ln cap="flat" cmpd="sng" w="9525">
            <a:solidFill>
              <a:srgbClr val="5C8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50523" y="6071711"/>
            <a:ext cx="3292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Kanit Ligh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Kanit Light"/>
                <a:ea typeface="Kanit Light"/>
                <a:cs typeface="Kanit Light"/>
                <a:sym typeface="Kanit Light"/>
              </a:rPr>
              <a:t>3</a:t>
            </a:r>
            <a:endParaRPr b="0" i="0" sz="2550" u="none" cap="none" strike="noStrike"/>
          </a:p>
        </p:txBody>
      </p:sp>
      <p:sp>
        <p:nvSpPr>
          <p:cNvPr id="122" name="Google Shape;122;p6"/>
          <p:cNvSpPr/>
          <p:nvPr/>
        </p:nvSpPr>
        <p:spPr>
          <a:xfrm>
            <a:off x="1481495" y="6105882"/>
            <a:ext cx="2831068" cy="34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50"/>
              <a:buFont typeface="Kanit Light"/>
              <a:buNone/>
            </a:pPr>
            <a:r>
              <a:rPr b="0" i="0" lang="en-US" sz="21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Optimización avanzada</a:t>
            </a:r>
            <a:endParaRPr b="0" i="0" sz="2150" u="none" cap="none" strike="noStrike"/>
          </a:p>
        </p:txBody>
      </p:sp>
      <p:sp>
        <p:nvSpPr>
          <p:cNvPr id="123" name="Google Shape;123;p6"/>
          <p:cNvSpPr/>
          <p:nvPr/>
        </p:nvSpPr>
        <p:spPr>
          <a:xfrm>
            <a:off x="1481495" y="6580584"/>
            <a:ext cx="6894314" cy="702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Mejora la optimización y análisis estático en herramientas modernas de desarrollo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793790" y="864989"/>
            <a:ext cx="1022199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Diferencias clave entre CommonJS y ESM</a:t>
            </a:r>
            <a:endParaRPr b="0" i="0" sz="4450" u="none" cap="none" strike="noStrike"/>
          </a:p>
        </p:txBody>
      </p:sp>
      <p:sp>
        <p:nvSpPr>
          <p:cNvPr id="130" name="Google Shape;130;p7"/>
          <p:cNvSpPr/>
          <p:nvPr/>
        </p:nvSpPr>
        <p:spPr>
          <a:xfrm>
            <a:off x="793790" y="2027396"/>
            <a:ext cx="13042821" cy="4356259"/>
          </a:xfrm>
          <a:prstGeom prst="roundRect">
            <a:avLst>
              <a:gd fmla="val 218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801410" y="2035016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028224" y="2178725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CommonJS (Tradicional)</a:t>
            </a:r>
            <a:endParaRPr b="0" i="0" sz="1750" u="none" cap="none" strike="noStrike"/>
          </a:p>
        </p:txBody>
      </p:sp>
      <p:sp>
        <p:nvSpPr>
          <p:cNvPr id="133" name="Google Shape;133;p7"/>
          <p:cNvSpPr/>
          <p:nvPr/>
        </p:nvSpPr>
        <p:spPr>
          <a:xfrm>
            <a:off x="7545824" y="2178725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ESM (Moderno)</a:t>
            </a:r>
            <a:endParaRPr b="0" i="0" sz="1750" u="none" cap="none" strike="noStrike"/>
          </a:p>
        </p:txBody>
      </p:sp>
      <p:sp>
        <p:nvSpPr>
          <p:cNvPr id="134" name="Google Shape;134;p7"/>
          <p:cNvSpPr/>
          <p:nvPr/>
        </p:nvSpPr>
        <p:spPr>
          <a:xfrm>
            <a:off x="801410" y="2685336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028224" y="2829044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require() y module.exports</a:t>
            </a:r>
            <a:endParaRPr b="0" i="0" sz="1750" u="none" cap="none" strike="noStrike"/>
          </a:p>
        </p:txBody>
      </p:sp>
      <p:sp>
        <p:nvSpPr>
          <p:cNvPr id="136" name="Google Shape;136;p7"/>
          <p:cNvSpPr/>
          <p:nvPr/>
        </p:nvSpPr>
        <p:spPr>
          <a:xfrm>
            <a:off x="7545824" y="2829044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import y export</a:t>
            </a:r>
            <a:endParaRPr b="0" i="0" sz="1750" u="none" cap="none" strike="noStrike"/>
          </a:p>
        </p:txBody>
      </p:sp>
      <p:sp>
        <p:nvSpPr>
          <p:cNvPr id="137" name="Google Shape;137;p7"/>
          <p:cNvSpPr/>
          <p:nvPr/>
        </p:nvSpPr>
        <p:spPr>
          <a:xfrm>
            <a:off x="801410" y="3335655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028224" y="3479363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Carga síncrona</a:t>
            </a:r>
            <a:endParaRPr b="0" i="0" sz="1750" u="none" cap="none" strike="noStrike"/>
          </a:p>
        </p:txBody>
      </p:sp>
      <p:sp>
        <p:nvSpPr>
          <p:cNvPr id="139" name="Google Shape;139;p7"/>
          <p:cNvSpPr/>
          <p:nvPr/>
        </p:nvSpPr>
        <p:spPr>
          <a:xfrm>
            <a:off x="7545824" y="3479363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Carga asíncrona</a:t>
            </a:r>
            <a:endParaRPr b="0" i="0" sz="1750" u="none" cap="none" strike="noStrike"/>
          </a:p>
        </p:txBody>
      </p:sp>
      <p:sp>
        <p:nvSpPr>
          <p:cNvPr id="140" name="Google Shape;140;p7"/>
          <p:cNvSpPr/>
          <p:nvPr/>
        </p:nvSpPr>
        <p:spPr>
          <a:xfrm>
            <a:off x="801410" y="3985974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8224" y="4129683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Análisis dinámico</a:t>
            </a:r>
            <a:endParaRPr b="0" i="0" sz="1750" u="none" cap="none" strike="noStrike"/>
          </a:p>
        </p:txBody>
      </p:sp>
      <p:sp>
        <p:nvSpPr>
          <p:cNvPr id="142" name="Google Shape;142;p7"/>
          <p:cNvSpPr/>
          <p:nvPr/>
        </p:nvSpPr>
        <p:spPr>
          <a:xfrm>
            <a:off x="7545824" y="4129683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Análisis estático</a:t>
            </a:r>
            <a:endParaRPr b="0" i="0" sz="1750" u="none" cap="none" strike="noStrike"/>
          </a:p>
        </p:txBody>
      </p:sp>
      <p:sp>
        <p:nvSpPr>
          <p:cNvPr id="143" name="Google Shape;143;p7"/>
          <p:cNvSpPr/>
          <p:nvPr/>
        </p:nvSpPr>
        <p:spPr>
          <a:xfrm>
            <a:off x="801410" y="4636294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28224" y="4780002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No hay hoisting de require</a:t>
            </a:r>
            <a:endParaRPr b="0" i="0" sz="1750" u="none" cap="none" strike="noStrike"/>
          </a:p>
        </p:txBody>
      </p:sp>
      <p:sp>
        <p:nvSpPr>
          <p:cNvPr id="145" name="Google Shape;145;p7"/>
          <p:cNvSpPr/>
          <p:nvPr/>
        </p:nvSpPr>
        <p:spPr>
          <a:xfrm>
            <a:off x="7545824" y="4780002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Los import se mueven al inicio automáticamente</a:t>
            </a:r>
            <a:endParaRPr b="0" i="0" sz="1750" u="none" cap="none" strike="noStrike"/>
          </a:p>
        </p:txBody>
      </p:sp>
      <p:sp>
        <p:nvSpPr>
          <p:cNvPr id="146" name="Google Shape;146;p7"/>
          <p:cNvSpPr/>
          <p:nvPr/>
        </p:nvSpPr>
        <p:spPr>
          <a:xfrm>
            <a:off x="801410" y="5286613"/>
            <a:ext cx="13027581" cy="10894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028224" y="5430322"/>
            <a:ext cx="6056352" cy="80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Variables Globales: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__dirname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,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__filename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,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,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module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,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exports</a:t>
            </a:r>
            <a:endParaRPr b="0" i="0" sz="1750" u="none" cap="none" strike="noStrike"/>
          </a:p>
        </p:txBody>
      </p:sp>
      <p:sp>
        <p:nvSpPr>
          <p:cNvPr id="148" name="Google Shape;148;p7"/>
          <p:cNvSpPr/>
          <p:nvPr/>
        </p:nvSpPr>
        <p:spPr>
          <a:xfrm>
            <a:off x="7545824" y="5430322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No existen (debés crearlas manualmente)</a:t>
            </a:r>
            <a:endParaRPr b="0" i="0" sz="1750" u="none" cap="none" strike="noStrike"/>
          </a:p>
        </p:txBody>
      </p:sp>
      <p:sp>
        <p:nvSpPr>
          <p:cNvPr id="149" name="Google Shape;149;p7"/>
          <p:cNvSpPr/>
          <p:nvPr/>
        </p:nvSpPr>
        <p:spPr>
          <a:xfrm>
            <a:off x="793790" y="6638806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Migrar a ESM implica ajustar la forma de importar paquetes como dotenv y yargs, pero ofrece beneficios significativos en rendimiento y herramientas de desarrollo.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2025-10-06T09:19:09Z</dcterms:created>
</cp:coreProperties>
</file>